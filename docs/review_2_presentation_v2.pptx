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6D"/>
                </a:solidFill>
                <a:latin typeface="Lexend"/>
              </a:defRPr>
            </a:pPr>
            <a:r>
              <a:t>OXYGEN SPORTS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5F6FA"/>
                </a:solidFill>
                <a:latin typeface="Lexend"/>
              </a:defRPr>
            </a:pPr>
            <a:r>
              <a:t>Annual Contract Renewal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AB3600"/>
                </a:solidFill>
                <a:latin typeface="Inter"/>
              </a:defRPr>
            </a:pPr>
            <a:r>
              <a:t>Review 2: Implementation, Architecture &amp; QA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6FA"/>
                </a:solidFill>
                <a:latin typeface="Inter"/>
              </a:defRPr>
            </a:pPr>
            <a:r>
              <a:t>Project Team:</a:t>
            </a:r>
          </a:p>
          <a:p>
            <a:pPr>
              <a:defRPr sz="1300">
                <a:solidFill>
                  <a:srgbClr val="F5F6FA"/>
                </a:solidFill>
                <a:latin typeface="Inter"/>
              </a:defRPr>
            </a:pPr>
            <a:r>
              <a:t>• Student 1 — Frontend Developer (UI Overhaul, Themes &amp; Design System)</a:t>
            </a:r>
          </a:p>
          <a:p>
            <a:pPr>
              <a:defRPr sz="1300">
                <a:solidFill>
                  <a:srgbClr val="F5F6FA"/>
                </a:solidFill>
                <a:latin typeface="Inter"/>
              </a:defRPr>
            </a:pPr>
            <a:r>
              <a:t>• Student 2 — Backend Developer (DB Schema, Auth &amp; Expiry Tracking Engine)</a:t>
            </a:r>
          </a:p>
          <a:p>
            <a:pPr>
              <a:defRPr sz="1300">
                <a:solidFill>
                  <a:srgbClr val="F5F6FA"/>
                </a:solidFill>
                <a:latin typeface="Inter"/>
              </a:defRPr>
            </a:pPr>
            <a:r>
              <a:t>• Student 3 — QA Engineer &amp; Deployer (Testing Strategy, Viewport Checks &amp; CI/CD)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B3600"/>
                </a:solidFill>
                <a:latin typeface="Inter"/>
              </a:defRPr>
            </a:pPr>
            <a:r>
              <a:t>OXYGEN SPORTS /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6FA"/>
                </a:solidFill>
                <a:latin typeface="Lexend"/>
              </a:defRPr>
            </a:pPr>
            <a:r>
              <a:t>Project Overview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B3600"/>
                </a:solidFill>
                <a:latin typeface="Lexend"/>
              </a:defRPr>
            </a:pPr>
            <a:r>
              <a:t>THE PROBLEM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Manual tracking of annual equipment supply contracts through phone, WhatsApp, and spreadsheets.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High risk of delays or missed renewal dates, leading to potential revenue loss.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Lack of central oversight and relationship manager accountability.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No historical audit logs to track edits, pricing revisions, or status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6D"/>
                </a:solidFill>
                <a:latin typeface="Lexend"/>
              </a:defRPr>
            </a:pPr>
            <a:r>
              <a:t>THE SOLUTION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A centralized digital platform designed specifically for Oxygen Sports managers.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Automated contract state evaluations based on days until expiry.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Clean, interactive layout highlighting critical contracts requiring immediate negotiation.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Comprehensive reports for average contract values, price revision projections, and category distribution.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Transparent audit trailing capturing old vs. new values for every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B3600"/>
                </a:solidFill>
                <a:latin typeface="Inter"/>
              </a:defRPr>
            </a:pPr>
            <a:r>
              <a:t>OXYGEN SPORTS /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6FA"/>
                </a:solidFill>
                <a:latin typeface="Lexend"/>
              </a:defRPr>
            </a:pPr>
            <a:r>
              <a:t>System Architecture &amp; 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B3600"/>
                </a:solidFill>
                <a:latin typeface="Lexend"/>
              </a:defRPr>
            </a:pPr>
            <a:r>
              <a:t>FRONTEND (React)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Vite: Ultra-fast build tool and local development server.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React Router v7: Declarative routing with protected route middleware.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Tailwind CSS v4: Core styling engine leveraging CSS variables and theme configuration.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Recharts: Responsive visualizations (donut, line, and bar charts).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Lucide React: Premium modern UI iconography 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666D"/>
                </a:solidFill>
                <a:latin typeface="Lexend"/>
              </a:defRPr>
            </a:pPr>
            <a:r>
              <a:t>BACKEND (Node.js)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Express: Handles HTTP requests and middleware pipelines.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better-sqlite3: High-performance, synchronous SQLite library.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JWT (jsonwebtoken): Secure authentication and session tracking.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bcryptjs: Standard hashing algorithms for user passwords.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cors: Configured cross-origin sharing rules supporting localized dev environments.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6459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F6FA"/>
                </a:solidFill>
                <a:latin typeface="Lexend"/>
              </a:defRPr>
            </a:pPr>
            <a:r>
              <a:t>DATABASE &amp; SECURITY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SQLite Engine: Lightweight, zero-config relational database.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3 Core Tables: users, academy_annual_contract_renewal, and audit_logs.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Relational Schema: Contracts are associated with active manager accounts.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Auth Guarding: Custom ProtectedRoute wrapper blocking unauthenticated page visits.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B3600"/>
                </a:solidFill>
                <a:latin typeface="Inter"/>
              </a:defRPr>
            </a:pPr>
            <a:r>
              <a:t>OXYGEN SPORTS /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6FA"/>
                </a:solidFill>
                <a:latin typeface="Lexend"/>
              </a:defRPr>
            </a:pPr>
            <a:r>
              <a:t>Student 1: Frontend Theme &amp; Layout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6D"/>
                </a:solidFill>
                <a:latin typeface="Lexend"/>
              </a:defRPr>
            </a:pPr>
            <a:r>
              <a:t>VISUAL IDENTITY &amp; THEME SYSTEM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Oxygen Sports vector logo SVG integration for crisp sidebar display.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Lexend &amp; Inter typography matching Google Fonts standards.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Modern radial background gradients and glassmorphism styling.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Adaptive styling tokens via CSS custom variables in index.css.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Bento-box grid layouts grouping summary statistics dynamically.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B3600"/>
                </a:solidFill>
                <a:latin typeface="Lexend"/>
              </a:defRPr>
            </a:pPr>
            <a:r>
              <a:t>COMPONENT ARCHITECTURE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Layout Wrapper: Manages fixed sidebar (width: 72) and scrolling content viewport.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Sidebar component: Implements responsive mobile overlay menus and slide-out behaviors.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StatsCard component: Reusable container representing contract metrics with custom trend badges.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Avatar Generator: Generates color-coordinated initials badges based on academy names.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Toast System: Dispatches success/error notifications during entry submission.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B3600"/>
                </a:solidFill>
                <a:latin typeface="Inter"/>
              </a:defRPr>
            </a:pPr>
            <a:r>
              <a:t>OXYGEN SPORTS /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6FA"/>
                </a:solidFill>
                <a:latin typeface="Lexend"/>
              </a:defRPr>
            </a:pPr>
            <a:r>
              <a:t>Student 1: Core Pages &amp;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B3600"/>
                </a:solidFill>
                <a:latin typeface="Lexend"/>
              </a:defRPr>
            </a:pPr>
            <a:r>
              <a:t>DASHBOARD &amp; DETAILS VIEWS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Overview: Core grid counters, alert lists, status distribution charts, and a recent activities timeline feed.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Filtered Search Table: Supports dynamic queries by academy name and category with sorting and pagination.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Detail Viewer: Displays next renewal timeline, current values, manager avatar cards, and history logs.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MSA Document Previewer: Shows simulated Master Service Agreement layouts, watermarks, and clauses.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6D"/>
                </a:solidFill>
                <a:latin typeface="Lexend"/>
              </a:defRPr>
            </a:pPr>
            <a:r>
              <a:t>FORMS &amp; REPORT MODULES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Entry Form: Collects academy parameters with start-to-end boundary validation checks.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Edit Form: Pre-fills and updates active records by mapping contract IDs from parameters.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Analytics Dashboard: Connects category distributions (bar), status splits (donut), and revision trends (line).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Exporter: Downloads complete contract lists to local spreadsheets (.csv) dynamically.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B3600"/>
                </a:solidFill>
                <a:latin typeface="Inter"/>
              </a:defRPr>
            </a:pPr>
            <a:r>
              <a:t>OXYGEN SPORTS /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6FA"/>
                </a:solidFill>
                <a:latin typeface="Lexend"/>
              </a:defRPr>
            </a:pPr>
            <a:r>
              <a:t>Student 2: Database Schema &amp; API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6D"/>
                </a:solidFill>
                <a:latin typeface="Lexend"/>
              </a:defRPr>
            </a:pPr>
            <a:r>
              <a:t>DATABASE SCHEMA (SQLite)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Table users: stores hashed password credentials and session roles.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Table academy_annual_contract_renewal: holds contract names, categories, values, price revisions, renewal dates, and status fields.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Table audit_logs: tracks user adjustments (who, what, old/new values, timestamps).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Synchronous better-sqlite3 structure for high-efficiency querying.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B3600"/>
                </a:solidFill>
                <a:latin typeface="Lexend"/>
              </a:defRPr>
            </a:pPr>
            <a:r>
              <a:t>REST API GATEWAYS</a:t>
            </a:r>
          </a:p>
          <a:p>
            <a:pPr>
              <a:spcAft>
                <a:spcPts val="10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Auth Group: Login and signup services integrating secure JWT payloads.</a:t>
            </a:r>
          </a:p>
          <a:p>
            <a:pPr>
              <a:spcAft>
                <a:spcPts val="10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Contract CRUD: Read, insert, modify, and delete endpoints wrapped in transaction logs.</a:t>
            </a:r>
          </a:p>
          <a:p>
            <a:pPr>
              <a:spcAft>
                <a:spcPts val="10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Partial Updates: PATCH routes supporting target fields without overwriting records.</a:t>
            </a:r>
          </a:p>
          <a:p>
            <a:pPr>
              <a:spcAft>
                <a:spcPts val="10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Aggregator routes: /summary and /reports return pre-grouped JSON data.</a:t>
            </a:r>
          </a:p>
          <a:p>
            <a:pPr>
              <a:spcAft>
                <a:spcPts val="10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CSV stream: Outputs SQLite database to downloadable comma-separated values.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B3600"/>
                </a:solidFill>
                <a:latin typeface="Inter"/>
              </a:defRPr>
            </a:pPr>
            <a:r>
              <a:t>OXYGEN SPORTS /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6FA"/>
                </a:solidFill>
                <a:latin typeface="Lexend"/>
              </a:defRPr>
            </a:pPr>
            <a:r>
              <a:t>Student 2: Expiry Engine &amp; Audit Triggers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B3600"/>
                </a:solidFill>
                <a:latin typeface="Lexend"/>
              </a:defRPr>
            </a:pPr>
            <a:r>
              <a:t>EXPIRY TRACKING ENGINE</a:t>
            </a:r>
          </a:p>
          <a:p>
            <a:pPr>
              <a:spcAft>
                <a:spcPts val="6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Automatic evaluation of days remaining until contract expiry.</a:t>
            </a:r>
          </a:p>
          <a:p>
            <a:pPr>
              <a:spcAft>
                <a:spcPts val="6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Alert state classifications:</a:t>
            </a:r>
          </a:p>
          <a:p>
            <a:pPr>
              <a:spcAft>
                <a:spcPts val="6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  - Green: Safe (&gt; 90 days)</a:t>
            </a:r>
          </a:p>
          <a:p>
            <a:pPr>
              <a:spcAft>
                <a:spcPts val="6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  - Yellow: Upcoming (60 - 90 days)</a:t>
            </a:r>
          </a:p>
          <a:p>
            <a:pPr>
              <a:spcAft>
                <a:spcPts val="6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  - Orange: Expiring Soon (30 - 60 days)</a:t>
            </a:r>
          </a:p>
          <a:p>
            <a:pPr>
              <a:spcAft>
                <a:spcPts val="6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  - Red: Urgent (&lt; 30 days remaining)</a:t>
            </a:r>
          </a:p>
          <a:p>
            <a:pPr>
              <a:spcAft>
                <a:spcPts val="6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  - Black: Expired (0 or negative days remaining)</a:t>
            </a:r>
          </a:p>
          <a:p>
            <a:pPr>
              <a:spcAft>
                <a:spcPts val="6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Triggered upon dashboard retrieval to auto-reclassify state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6D"/>
                </a:solidFill>
                <a:latin typeface="Lexend"/>
              </a:defRPr>
            </a:pPr>
            <a:r>
              <a:t>AUDIT INTERCEPTORS &amp; SEEDS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Audit logs capture contract modifications, logging column shifts (old value → new value).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Tracks details like price changes, manager assignment updates, or status adjustments.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Encryption: Implements bcryptjs.hashSync for secure user credentials protection.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Seed Data: Includes 15+ entries pre-populated to represent all contract states and verify engine logic.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B3600"/>
                </a:solidFill>
                <a:latin typeface="Inter"/>
              </a:defRPr>
            </a:pPr>
            <a:r>
              <a:t>OXYGEN SPORTS /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6FA"/>
                </a:solidFill>
                <a:latin typeface="Lexend"/>
              </a:defRPr>
            </a:pPr>
            <a:r>
              <a:t>Student 3: QA Framework &amp; 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6D"/>
                </a:solidFill>
                <a:latin typeface="Lexend"/>
              </a:defRPr>
            </a:pPr>
            <a:r>
              <a:t>TEST CLASSIFICATION STRUCTURE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Unit Testing: Evaluates standalone modules like text fields, numeric revision constraints, and date validations.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Integration Testing: Validates multi-step flows (inserting a contract → reading details page → updating details → verifying audit log output).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Edge Case Testing: Analyzes zero contract values, null notes, and boundary dates (e.g. renewal date before start date).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Error Boundary checks: Prevents system crashes from empty query matches.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B3600"/>
                </a:solidFill>
                <a:latin typeface="Lexend"/>
              </a:defRPr>
            </a:pPr>
            <a:r>
              <a:t>RESPONSIVENESS &amp; VIEWPORT AUDITS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Mobile Viewport (375px): Validates collapsible sidebars and single-column card flows.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Tablet Viewport (768px): Assures grid metrics cards scale down cleanly.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Desktop Viewport (1280px+): Assures fluid spacing and alignment.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Browser Testing: Cross-tested on Chrome, Firefox, and Edge to verify rendering consistency.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B3600"/>
                </a:solidFill>
                <a:latin typeface="Inter"/>
              </a:defRPr>
            </a:pPr>
            <a:r>
              <a:t>OXYGEN SPORTS /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6FA"/>
                </a:solidFill>
                <a:latin typeface="Lexend"/>
              </a:defRPr>
            </a:pPr>
            <a:r>
              <a:t>Student 3: Test Trackers &amp; Bug Resolutions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B3600"/>
                </a:solidFill>
                <a:latin typeface="Lexend"/>
              </a:defRPr>
            </a:pPr>
            <a:r>
              <a:t>TEST TRACKER LOGGING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Test ID tracking: Each scenario corresponds to a unique test ID, module name, and category.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Test conditions: Formulates input params, expected output, observed result, and pass/fail state.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Postman collection: Complete collection covering user auth, contract queries, updates, and exports.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Automated builds: Assures frontend and backend compile correctly.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6D"/>
                </a:solidFill>
                <a:latin typeface="Lexend"/>
              </a:defRPr>
            </a:pPr>
            <a:r>
              <a:t>BUG IDENTIFICATION &amp; FIXES</a:t>
            </a:r>
          </a:p>
          <a:p>
            <a:pPr>
              <a:spcAft>
                <a:spcPts val="10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Vite API Proxy: Resolved path mismatches when hitting endpoints during development.</a:t>
            </a:r>
          </a:p>
          <a:p>
            <a:pPr>
              <a:spcAft>
                <a:spcPts val="10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Status Update mismatch: Corrected target status paths from /api/contracts/:id to /api/contracts/:id/status.</a:t>
            </a:r>
          </a:p>
          <a:p>
            <a:pPr>
              <a:spcAft>
                <a:spcPts val="10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Tailwind CSS v4 Spacing: Identified and resolved the --spacing override bug in index.css, restoring correct UI dimensions.</a:t>
            </a:r>
          </a:p>
          <a:p>
            <a:pPr>
              <a:spcAft>
                <a:spcPts val="10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Token verification: Handled auto-logout of UI when backend returns 401 Unauthorized.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B3600"/>
                </a:solidFill>
                <a:latin typeface="Inter"/>
              </a:defRPr>
            </a:pPr>
            <a:r>
              <a:t>OXYGEN SPORTS /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6FA"/>
                </a:solidFill>
                <a:latin typeface="Lexend"/>
              </a:defRPr>
            </a:pPr>
            <a:r>
              <a:t>Hosting, Deployment &amp; Git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B3600"/>
                </a:solidFill>
                <a:latin typeface="Lexend"/>
              </a:defRPr>
            </a:pPr>
            <a:r>
              <a:t>DEPLOYMENT SETUP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Frontend Hosting: Vercel integration, linked directly to the team's GitHub repository.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CI/CD Pipeline: Automated builds triggered on pushes to the 'main' branch, ensuring rapid deployment.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Staging Environment: Previews reflect latest commits, eliminating discrepancy between dev and prod states.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Local Dev Proxy: Vite config overrides routes through standard localhost redirection.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6D"/>
                </a:solidFill>
                <a:latin typeface="Lexend"/>
              </a:defRPr>
            </a:pPr>
            <a:r>
              <a:t>VERSION CONTROL &amp; TEAM WORKFLOW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GitHub Repository: Centralized team workspace.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Commit Standards: Descriptive semantic commit messages tracking edits (e.g., 'Apply premium glassmorphic UI styles').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Clean Repository Structure: Staging and documentation files organized inside the 'docs' directory.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Issue logs &amp; audit audits prepared to document the state of development.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B3600"/>
                </a:solidFill>
                <a:latin typeface="Inter"/>
              </a:defRPr>
            </a:pPr>
            <a:r>
              <a:t>OXYGEN SPORTS /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6FA"/>
                </a:solidFill>
                <a:latin typeface="Lexend"/>
              </a:defRPr>
            </a:pPr>
            <a:r>
              <a:t>Current Status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6D"/>
                </a:solidFill>
                <a:latin typeface="Lexend"/>
              </a:defRPr>
            </a:pPr>
            <a:r>
              <a:t>COMPLETED MILESTONES (REVIEW 2)</a:t>
            </a:r>
          </a:p>
          <a:p>
            <a:pPr>
              <a:spcAft>
                <a:spcPts val="10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✔ Database initialization and relational tables built.</a:t>
            </a:r>
          </a:p>
          <a:p>
            <a:pPr>
              <a:spcAft>
                <a:spcPts val="10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✔ Complete CRUD API endpoints with audit trail interceptors.</a:t>
            </a:r>
          </a:p>
          <a:p>
            <a:pPr>
              <a:spcAft>
                <a:spcPts val="10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✔ Dashboard, Entry Form, Detail View, and Reports pages built and verified.</a:t>
            </a:r>
          </a:p>
          <a:p>
            <a:pPr>
              <a:spcAft>
                <a:spcPts val="10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✔ Vercel CD pipelines running and functional.</a:t>
            </a:r>
          </a:p>
          <a:p>
            <a:pPr>
              <a:spcAft>
                <a:spcPts val="10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✔ Vite frontend builds successfully; CSS bugs fully resolved.</a:t>
            </a:r>
          </a:p>
          <a:p>
            <a:pPr>
              <a:spcAft>
                <a:spcPts val="10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✔ Postman testing and local integration testing completed.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B3600"/>
                </a:solidFill>
                <a:latin typeface="Lexend"/>
              </a:defRPr>
            </a:pPr>
            <a:r>
              <a:t>NEXT STEPS (ROAD TO FINAL REVIEW)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→ Finalize remaining Settings placeholder panels (roles and notification configurations).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→ Expand Help Center documentation with detailed user manuals.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→ Optimize charts rendering with large dataset loads.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→ Conduct user acceptance testing (UAT) with Oxygen Sports team.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→ Pre-final review presentation deck and demo preparation.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6D"/>
                </a:solidFill>
                <a:latin typeface="Lexend"/>
              </a:defRPr>
            </a:pPr>
            <a:r>
              <a:t>OXYGEN SPORTS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5F6FA"/>
                </a:solidFill>
                <a:latin typeface="Lexend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AB3600"/>
                </a:solidFill>
                <a:latin typeface="Inter"/>
              </a:defRPr>
            </a:pPr>
            <a:r>
              <a:t>Questions &amp;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5F6FA"/>
                </a:solidFill>
                <a:latin typeface="Inter"/>
              </a:defRPr>
            </a:pPr>
            <a:r>
              <a:t>Project Team: Student 1, Student 2, Student 3</a:t>
            </a:r>
          </a:p>
          <a:p>
            <a:pPr>
              <a:defRPr sz="1100">
                <a:solidFill>
                  <a:srgbClr val="94A3B8"/>
                </a:solidFill>
                <a:latin typeface="JetBrains Mono"/>
              </a:defRPr>
            </a:pPr>
            <a:r>
              <a:t>Repository: https://github.com/tallasaicharith/academy-annual-contract-renewal-tracker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