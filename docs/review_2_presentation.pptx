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6D"/>
                </a:solidFill>
                <a:latin typeface="Lexend"/>
              </a:defRPr>
            </a:pPr>
            <a:r>
              <a:t>OXYGEN SPORTS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5F6FA"/>
                </a:solidFill>
                <a:latin typeface="Lexend"/>
              </a:defRPr>
            </a:pPr>
            <a:r>
              <a:t>Annual Contract Renewal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AB3600"/>
                </a:solidFill>
                <a:latin typeface="Inter"/>
              </a:defRPr>
            </a:pPr>
            <a:r>
              <a:t>Review 2: Implementation, Architecture &amp; QA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6FA"/>
                </a:solidFill>
                <a:latin typeface="Inter"/>
              </a:defRPr>
            </a:pPr>
            <a:r>
              <a:t>Project Team:</a:t>
            </a:r>
          </a:p>
          <a:p>
            <a:pPr>
              <a:defRPr sz="1300">
                <a:solidFill>
                  <a:srgbClr val="F5F6FA"/>
                </a:solidFill>
                <a:latin typeface="Inter"/>
              </a:defRPr>
            </a:pPr>
            <a:r>
              <a:t>• Student 1 — Frontend Developer (UI Overhaul &amp; Glassmorphism)</a:t>
            </a:r>
          </a:p>
          <a:p>
            <a:pPr>
              <a:defRPr sz="1300">
                <a:solidFill>
                  <a:srgbClr val="F5F6FA"/>
                </a:solidFill>
                <a:latin typeface="Inter"/>
              </a:defRPr>
            </a:pPr>
            <a:r>
              <a:t>• Student 2 — Backend Developer (DB, APIs &amp; Expiry Engine)</a:t>
            </a:r>
          </a:p>
          <a:p>
            <a:pPr>
              <a:defRPr sz="1300">
                <a:solidFill>
                  <a:srgbClr val="F5F6FA"/>
                </a:solidFill>
                <a:latin typeface="Inter"/>
              </a:defRPr>
            </a:pPr>
            <a:r>
              <a:t>• Student 3 — QA Engineer &amp; Deployer (Testing Strategy &amp; Hosting)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6FA"/>
                </a:solidFill>
                <a:latin typeface="Lexend"/>
              </a:defRPr>
            </a:pPr>
            <a:r>
              <a:t>Project Overview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THE PROBLEM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Manual tracking of annual equipment supply contracts through phone, WhatsApp, and spreadsheets.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High risk of delays or missed renewal dates, leading to potential revenue loss.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Lack of central oversight and relationship manager accountability.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No historical audit logs to track edits, pricing revisions, or status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THE SOLUTION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A centralized digital platform designed specifically for Oxygen Sports managers.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Automated contract state evaluations based on days until expiry.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Clean, interactive layout highlighting critical contracts requiring immediate negotiation.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Comprehensive reports for average contract values, price revision projections, and category distribution.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Transparent audit trailing capturing old vs. new values for every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6FA"/>
                </a:solidFill>
                <a:latin typeface="Lexend"/>
              </a:defRPr>
            </a:pPr>
            <a:r>
              <a:t>System Architecture &amp; 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B3600"/>
                </a:solidFill>
                <a:latin typeface="Lexend"/>
              </a:defRPr>
            </a:pPr>
            <a:r>
              <a:t>FRONTEND (React)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Vite: Ultra-fast build tool and local development server.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React Router v7: Declarative routing with protected route middleware.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Tailwind CSS v4: Core styling engine leveraging CSS variables and theme configuration.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Recharts: Responsive visualizations (donut, line, and bar charts).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Lucide React: Premium modern UI iconography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66D"/>
                </a:solidFill>
                <a:latin typeface="Lexend"/>
              </a:defRPr>
            </a:pPr>
            <a:r>
              <a:t>BACKEND (Node.js)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Express: Minimalist backend web framework handling requests and routing.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better-sqlite3: High-performance, synchronous SQLite library.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JWT (jsonwebtoken): Secure authentication and session tracking.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bcryptjs: Standard hashing algorithms for user passwords.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cors: Custom cross-origin sharing rules supporting localized dev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6FA"/>
                </a:solidFill>
                <a:latin typeface="Lexend"/>
              </a:defRPr>
            </a:pPr>
            <a:r>
              <a:t>DATABASE &amp; SECURITY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SQLite Engine: Lightweight, zero-config relational database.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3 Core Tables: users, academy_annual_contract_renewal, and audit_logs.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Relational Schema: Contracts are associated with active manager accounts.</a:t>
            </a:r>
          </a:p>
          <a:p>
            <a:pPr>
              <a:spcAft>
                <a:spcPts val="1000"/>
              </a:spcAft>
              <a:defRPr sz="1200">
                <a:solidFill>
                  <a:srgbClr val="F5F6FA"/>
                </a:solidFill>
                <a:latin typeface="Inter"/>
              </a:defRPr>
            </a:pPr>
            <a:r>
              <a:t>• Auth Guarding: Custom ProtectedRoute wrapper blocking unauthenticated page visits.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6FA"/>
                </a:solidFill>
                <a:latin typeface="Lexend"/>
              </a:defRPr>
            </a:pPr>
            <a:r>
              <a:t>Database Schema &amp; API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DATABASE SCHEMAS</a:t>
            </a:r>
          </a:p>
          <a:p>
            <a:pPr>
              <a:spcAft>
                <a:spcPts val="200"/>
              </a:spcAft>
              <a:defRPr sz="1300" b="1">
                <a:solidFill>
                  <a:srgbClr val="F5F6FA"/>
                </a:solidFill>
                <a:latin typeface="Inter"/>
              </a:defRPr>
            </a:pPr>
            <a:r>
              <a:t>• Table: users</a:t>
            </a:r>
          </a:p>
          <a:p>
            <a:pPr>
              <a:spcAft>
                <a:spcPts val="1000"/>
              </a:spcAft>
              <a:defRPr sz="1050">
                <a:solidFill>
                  <a:srgbClr val="717786"/>
                </a:solidFill>
                <a:latin typeface="JetBrains Mono"/>
              </a:defRPr>
            </a:pPr>
            <a:r>
              <a:t>  Columns: id, username, password (hashed), email, role, created_at</a:t>
            </a:r>
          </a:p>
          <a:p>
            <a:pPr>
              <a:spcAft>
                <a:spcPts val="200"/>
              </a:spcAft>
              <a:defRPr sz="1300" b="1">
                <a:solidFill>
                  <a:srgbClr val="F5F6FA"/>
                </a:solidFill>
                <a:latin typeface="Inter"/>
              </a:defRPr>
            </a:pPr>
            <a:r>
              <a:t>• Table: academy_annual_contract_renewal</a:t>
            </a:r>
          </a:p>
          <a:p>
            <a:pPr>
              <a:spcAft>
                <a:spcPts val="1000"/>
              </a:spcAft>
              <a:defRPr sz="1050">
                <a:solidFill>
                  <a:srgbClr val="717786"/>
                </a:solidFill>
                <a:latin typeface="JetBrains Mono"/>
              </a:defRPr>
            </a:pPr>
            <a:r>
              <a:t>  Columns: id (PK), academy_name, equipment_categories, contract_start_date, renewal_date, contract_value, price_revision_percentage, relationship_manager, status, notes, created_at, updated_at</a:t>
            </a:r>
          </a:p>
          <a:p>
            <a:pPr>
              <a:spcAft>
                <a:spcPts val="200"/>
              </a:spcAft>
              <a:defRPr sz="1300" b="1">
                <a:solidFill>
                  <a:srgbClr val="F5F6FA"/>
                </a:solidFill>
                <a:latin typeface="Inter"/>
              </a:defRPr>
            </a:pPr>
            <a:r>
              <a:t>• Table: audit_logs</a:t>
            </a:r>
          </a:p>
          <a:p>
            <a:pPr>
              <a:spcAft>
                <a:spcPts val="1000"/>
              </a:spcAft>
              <a:defRPr sz="1050">
                <a:solidFill>
                  <a:srgbClr val="717786"/>
                </a:solidFill>
                <a:latin typeface="JetBrains Mono"/>
              </a:defRPr>
            </a:pPr>
            <a:r>
              <a:t>  Columns: id, contract_id (FK), changed_by, action, details, old_values, new_values, created_at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REST API ENDPOINTS</a:t>
            </a:r>
          </a:p>
          <a:p>
            <a:pPr>
              <a:spcAft>
                <a:spcPts val="500"/>
              </a:spcAft>
              <a:defRPr sz="1100">
                <a:solidFill>
                  <a:srgbClr val="F5F6FA"/>
                </a:solidFill>
                <a:latin typeface="Inter"/>
              </a:defRPr>
            </a:pPr>
            <a:r>
              <a:t>POST /api/auth/login  →  Authenticate credentials &amp; return JWT</a:t>
            </a:r>
          </a:p>
          <a:p>
            <a:pPr>
              <a:spcAft>
                <a:spcPts val="500"/>
              </a:spcAft>
              <a:defRPr sz="1100">
                <a:solidFill>
                  <a:srgbClr val="F5F6FA"/>
                </a:solidFill>
                <a:latin typeface="Inter"/>
              </a:defRPr>
            </a:pPr>
            <a:r>
              <a:t>POST /api/auth/signup  →  Register a new team/manager account</a:t>
            </a:r>
          </a:p>
          <a:p>
            <a:pPr>
              <a:spcAft>
                <a:spcPts val="500"/>
              </a:spcAft>
              <a:defRPr sz="1100">
                <a:solidFill>
                  <a:srgbClr val="F5F6FA"/>
                </a:solidFill>
                <a:latin typeface="Inter"/>
              </a:defRPr>
            </a:pPr>
            <a:r>
              <a:t>GET /api/contracts  →  Query, search, filter &amp; paginate contracts</a:t>
            </a:r>
          </a:p>
          <a:p>
            <a:pPr>
              <a:spcAft>
                <a:spcPts val="500"/>
              </a:spcAft>
              <a:defRPr sz="1100">
                <a:solidFill>
                  <a:srgbClr val="F5F6FA"/>
                </a:solidFill>
                <a:latin typeface="Inter"/>
              </a:defRPr>
            </a:pPr>
            <a:r>
              <a:t>POST /api/contracts  →  Create new record &amp; trigger audit log</a:t>
            </a:r>
          </a:p>
          <a:p>
            <a:pPr>
              <a:spcAft>
                <a:spcPts val="500"/>
              </a:spcAft>
              <a:defRPr sz="1100">
                <a:solidFill>
                  <a:srgbClr val="F5F6FA"/>
                </a:solidFill>
                <a:latin typeface="Inter"/>
              </a:defRPr>
            </a:pPr>
            <a:r>
              <a:t>PUT /api/contracts/:id  →  Modify contract values &amp; append details</a:t>
            </a:r>
          </a:p>
          <a:p>
            <a:pPr>
              <a:spcAft>
                <a:spcPts val="500"/>
              </a:spcAft>
              <a:defRPr sz="1100">
                <a:solidFill>
                  <a:srgbClr val="F5F6FA"/>
                </a:solidFill>
                <a:latin typeface="Inter"/>
              </a:defRPr>
            </a:pPr>
            <a:r>
              <a:t>PATCH /api/contracts/:id/status  →  Update contract status exclusively</a:t>
            </a:r>
          </a:p>
          <a:p>
            <a:pPr>
              <a:spcAft>
                <a:spcPts val="500"/>
              </a:spcAft>
              <a:defRPr sz="1100">
                <a:solidFill>
                  <a:srgbClr val="F5F6FA"/>
                </a:solidFill>
                <a:latin typeface="Inter"/>
              </a:defRPr>
            </a:pPr>
            <a:r>
              <a:t>GET /api/dashboard/summary  →  Retrieve metrics counters for active widgets</a:t>
            </a:r>
          </a:p>
          <a:p>
            <a:pPr>
              <a:spcAft>
                <a:spcPts val="500"/>
              </a:spcAft>
              <a:defRPr sz="1100">
                <a:solidFill>
                  <a:srgbClr val="F5F6FA"/>
                </a:solidFill>
                <a:latin typeface="Inter"/>
              </a:defRPr>
            </a:pPr>
            <a:r>
              <a:t>GET /api/reports/summary  →  Retrieve analytics distribution for charts</a:t>
            </a:r>
          </a:p>
          <a:p>
            <a:pPr>
              <a:spcAft>
                <a:spcPts val="500"/>
              </a:spcAft>
              <a:defRPr sz="1100">
                <a:solidFill>
                  <a:srgbClr val="F5F6FA"/>
                </a:solidFill>
                <a:latin typeface="Inter"/>
              </a:defRPr>
            </a:pPr>
            <a:r>
              <a:t>GET /api/reports/export  →  Export database state to downloadable 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6FA"/>
                </a:solidFill>
                <a:latin typeface="Lexend"/>
              </a:defRPr>
            </a:pPr>
            <a:r>
              <a:t>Frontend Implementation (Student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USER INTERFACE OVERVIEW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Official Oxygen Sports logo vector integration.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Interactive sidebar with dynamic route highlights and active state gradients.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Theme styling: radial back-gradients matching responsive glass cards.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Unified typography hierarchy utilizing Google Fonts (Lexend and Inter).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Fully responsive collapsible mobile viewport layouts.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KEY MODULES &amp; SCREENS</a:t>
            </a:r>
          </a:p>
          <a:p>
            <a:pPr>
              <a:spcAft>
                <a:spcPts val="1000"/>
              </a:spcAft>
              <a:defRPr sz="1300" b="0">
                <a:solidFill>
                  <a:srgbClr val="F5F6FA"/>
                </a:solidFill>
                <a:latin typeface="Inter"/>
              </a:defRPr>
            </a:pPr>
            <a:r>
              <a:t>• Dashboard: Widget indicators, search filters, paginated table list, and upcoming events.</a:t>
            </a:r>
          </a:p>
          <a:p>
            <a:pPr>
              <a:spcAft>
                <a:spcPts val="1000"/>
              </a:spcAft>
              <a:defRPr sz="1300" b="0">
                <a:solidFill>
                  <a:srgbClr val="F5F6FA"/>
                </a:solidFill>
                <a:latin typeface="Inter"/>
              </a:defRPr>
            </a:pPr>
            <a:r>
              <a:t>• Entry Form: Input validations, relationship manager mappings, and start/renewal boundary dates.</a:t>
            </a:r>
          </a:p>
          <a:p>
            <a:pPr>
              <a:spcAft>
                <a:spcPts val="1000"/>
              </a:spcAft>
              <a:defRPr sz="1300" b="0">
                <a:solidFill>
                  <a:srgbClr val="F5F6FA"/>
                </a:solidFill>
                <a:latin typeface="Inter"/>
              </a:defRPr>
            </a:pPr>
            <a:r>
              <a:t>• Detail View: Monospace MSA contract document viewer, days remaining progress bar, and audit logs.</a:t>
            </a:r>
          </a:p>
          <a:p>
            <a:pPr>
              <a:spcAft>
                <a:spcPts val="1000"/>
              </a:spcAft>
              <a:defRPr sz="1300" b="0">
                <a:solidFill>
                  <a:srgbClr val="F5F6FA"/>
                </a:solidFill>
                <a:latin typeface="Inter"/>
              </a:defRPr>
            </a:pPr>
            <a:r>
              <a:t>• Reports &amp; Analytics: Donut chart for status, price revision line trends, category bar charts, and CSV downloads.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6FA"/>
                </a:solidFill>
                <a:latin typeface="Lexend"/>
              </a:defRPr>
            </a:pPr>
            <a:r>
              <a:t>Backend &amp; Core Engine Logic (Student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EXPIRY TRACKING ALGORITHM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Evaluates the gap between contract renewal dates and current server time.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Calculates alert levels dynamically: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  - Green: Safe (&gt; 90 days remaining)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  - Yellow: Upcoming (60 - 90 days)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  - Orange: Expiring Soon (30 - 60 days)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  - Red: Urgent (&lt; 30 days remaining)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  - Black: Expired (lapsed contracts)</a:t>
            </a:r>
          </a:p>
          <a:p>
            <a:pPr>
              <a:spcAft>
                <a:spcPts val="6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Automatically updates status fields upon dashboard reload.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AUDIT TRAILS &amp; SEED DATA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Audit Log Interceptor: Every write operation (Create/Update/Delete) automatically logs the actor, timestamp, action type, old values, and new values.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Seed Script: Generates 15 contracts with staggered dates across all 5 alert states, verifying correct engine classification.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Password Encryption: Implements secure password verification using bcryptjs.hashSync during registration.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6FA"/>
                </a:solidFill>
                <a:latin typeface="Lexend"/>
              </a:defRPr>
            </a:pPr>
            <a:r>
              <a:t>QA &amp; Testing Strategy (Student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TESTING CLASSIFICATION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Unit Testing: Verified data validators, pricing revision margins, and JWT authentication filters.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Integration Testing: Tested end-to-end CRUD pipelines (create a contract -&gt; verify dashboard visibility -&gt; update values -&gt; check audit log details).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Edge Case Checks: Stressed boundary dates, null values, and blank search filters.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Viewport Responsiveness: Verified fluid rendering across mobile (375px), tablet (768px), and desktop (1280px).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TEST TRACKER &amp; STAGING STATUS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Structured Bug Tracker: Logged testing outcomes (expected results, actual results, severity levels, and resolution status).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API Testing: Completed Postman collections verifying HTTP responses, validation constraints, and authorization scopes.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Build Check: Successfully compiles Vite frontend and builds assets with zero errors.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Local execution verified with Express backend and SQLite database running in background tasks.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6FA"/>
                </a:solidFill>
                <a:latin typeface="Lexend"/>
              </a:defRPr>
            </a:pPr>
            <a:r>
              <a:t>Deployment &amp; Git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DEPLOYMENT SETUP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Frontend Hosting: Vercel integration, linked directly to the team's GitHub repository.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CI/CD Pipeline: Automated builds triggered on pushes to the 'main' branch, ensuring rapid deployment.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Staging Environment: Previews reflect latest commits, eliminating discrepancy between dev and prod states.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Local Dev Proxy: Vite config overrides routes through standard localhost redirection.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VERSION CONTROL &amp; TEAM WORKFLOW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GitHub Repository: Centralized team workspace.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Commit Standards: Descriptive semantic commit messages tracking edits (e.g., 'Apply premium glassmorphic UI styles').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Clean Repository Structure: Staging and documentation files organized inside the 'docs' directory.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• Issue logs &amp; audit audits prepared to document the state of development.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B3600"/>
                </a:solidFill>
                <a:latin typeface="Inter"/>
              </a:defRPr>
            </a:pPr>
            <a:r>
              <a:t>OXYGEN SPORTS /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F6FA"/>
                </a:solidFill>
                <a:latin typeface="Lexend"/>
              </a:defRPr>
            </a:pPr>
            <a:r>
              <a:t>Current Status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6D"/>
                </a:solidFill>
                <a:latin typeface="Lexend"/>
              </a:defRPr>
            </a:pPr>
            <a:r>
              <a:t>COMPLETED MILESTONES (REVIEW 2)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✔ Database initialization and relational tables built.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✔ Complete CRUD API endpoints with audit trail interceptors.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✔ Dashboard, Entry Form, Detail View, and Reports pages built and verified.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✔ Vercel CD pipelines running and functional.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✔ Vite frontend builds successfully; CSS bugs fully resolved.</a:t>
            </a:r>
          </a:p>
          <a:p>
            <a:pPr>
              <a:spcAft>
                <a:spcPts val="10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✔ Postman testing and local integration testing completed.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B3600"/>
                </a:solidFill>
                <a:latin typeface="Lexend"/>
              </a:defRPr>
            </a:pPr>
            <a:r>
              <a:t>NEXT STEPS (ROAD TO FINAL REVIEW)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→ Finalize remaining Settings placeholder panels (roles and notification configurations).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→ Expand Help Center documentation with detailed user manuals.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→ Optimize charts rendering with large dataset loads.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→ Conduct user acceptance testing (UAT) with Oxygen Sports team.</a:t>
            </a:r>
          </a:p>
          <a:p>
            <a:pPr>
              <a:spcAft>
                <a:spcPts val="1200"/>
              </a:spcAft>
              <a:defRPr sz="1300">
                <a:solidFill>
                  <a:srgbClr val="F5F6FA"/>
                </a:solidFill>
                <a:latin typeface="Inter"/>
              </a:defRPr>
            </a:pPr>
            <a:r>
              <a:t>→ Pre-final review presentation deck and demo preparation.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6D"/>
                </a:solidFill>
                <a:latin typeface="Lexend"/>
              </a:defRPr>
            </a:pPr>
            <a:r>
              <a:t>OXYGEN SPORTS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5F6FA"/>
                </a:solidFill>
                <a:latin typeface="Lexend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B3600"/>
                </a:solidFill>
                <a:latin typeface="Inter"/>
              </a:defRPr>
            </a:pPr>
            <a:r>
              <a:t>Questions &amp;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5F6FA"/>
                </a:solidFill>
                <a:latin typeface="Inter"/>
              </a:defRPr>
            </a:pPr>
            <a:r>
              <a:t>Project Team: Student 1, Student 2, Student 3</a:t>
            </a:r>
          </a:p>
          <a:p>
            <a:pPr>
              <a:defRPr sz="1100">
                <a:solidFill>
                  <a:srgbClr val="717786"/>
                </a:solidFill>
                <a:latin typeface="JetBrains Mono"/>
              </a:defRPr>
            </a:pPr>
            <a:r>
              <a:t>Repository: https://github.com/tallasaicharith/academy-annual-contract-renewal-tracker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